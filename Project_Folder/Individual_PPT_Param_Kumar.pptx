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30f183dde848f4" /><Relationship Type="http://schemas.openxmlformats.org/officeDocument/2006/relationships/extended-properties" Target="/docProps/app.xml" Id="R7ca18f6dd6df41b8" /><Relationship Type="http://schemas.openxmlformats.org/officeDocument/2006/relationships/officeDocument" Target="/ppt/presentation.xml" Id="R58e64189a8e046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f4ac424ef24f0a"/>
  </p:sldMasterIdLst>
  <p:notesMasterIdLst>
    <p:notesMasterId xmlns:r="http://schemas.openxmlformats.org/officeDocument/2006/relationships" r:id="Re3f2f5c91b6f4722"/>
  </p:notesMasterIdLst>
  <p:sldIdLst>
    <p:sldId xmlns:r="http://schemas.openxmlformats.org/officeDocument/2006/relationships" id="256" r:id="R54e68e24a26f4624"/>
    <p:sldId xmlns:r="http://schemas.openxmlformats.org/officeDocument/2006/relationships" id="257" r:id="R3f707437a6a94f04"/>
    <p:sldId xmlns:r="http://schemas.openxmlformats.org/officeDocument/2006/relationships" id="258" r:id="R807535793c8b4ffe"/>
    <p:sldId xmlns:r="http://schemas.openxmlformats.org/officeDocument/2006/relationships" id="259" r:id="R9fd0bf7be05342c5"/>
    <p:sldId xmlns:r="http://schemas.openxmlformats.org/officeDocument/2006/relationships" id="260" r:id="R60f86666a2d847e8"/>
    <p:sldId xmlns:r="http://schemas.openxmlformats.org/officeDocument/2006/relationships" id="261" r:id="R150c87af372a40e9"/>
    <p:sldId xmlns:r="http://schemas.openxmlformats.org/officeDocument/2006/relationships" id="262" r:id="R438078c4a9574fed"/>
    <p:sldId xmlns:r="http://schemas.openxmlformats.org/officeDocument/2006/relationships" id="263" r:id="R63424c07b16c4de2"/>
    <p:sldId xmlns:r="http://schemas.openxmlformats.org/officeDocument/2006/relationships" id="264" r:id="Rac2c705231024299"/>
    <p:sldId xmlns:r="http://schemas.openxmlformats.org/officeDocument/2006/relationships" id="265" r:id="Rb2ba7234955e4b56"/>
    <p:sldId xmlns:r="http://schemas.openxmlformats.org/officeDocument/2006/relationships" id="266" r:id="Re6d5ecbe8e194da9"/>
    <p:sldId xmlns:r="http://schemas.openxmlformats.org/officeDocument/2006/relationships" id="267" r:id="Rb1c3078bcd364518"/>
    <p:sldId xmlns:r="http://schemas.openxmlformats.org/officeDocument/2006/relationships" id="268" r:id="Re20756d184324e12"/>
    <p:sldId xmlns:r="http://schemas.openxmlformats.org/officeDocument/2006/relationships" id="269" r:id="Rf3a8734841e8437c"/>
    <p:sldId xmlns:r="http://schemas.openxmlformats.org/officeDocument/2006/relationships" id="270" r:id="R7fcd5e2e19e340f6"/>
    <p:sldId xmlns:r="http://schemas.openxmlformats.org/officeDocument/2006/relationships" id="271" r:id="R44c68e083fa54a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4cc88128ce4d03" /><Relationship Type="http://schemas.openxmlformats.org/officeDocument/2006/relationships/slideMaster" Target="/ppt/slideMasters/slideMaster1.xml" Id="Rf0f4ac424ef24f0a" /><Relationship Type="http://schemas.openxmlformats.org/officeDocument/2006/relationships/notesMaster" Target="/ppt/notesMasters/notesMaster1.xml" Id="Re3f2f5c91b6f4722" /><Relationship Type="http://schemas.openxmlformats.org/officeDocument/2006/relationships/presProps" Target="/ppt/presProps.xml" Id="Rf5013caaa530457f" /><Relationship Type="http://schemas.openxmlformats.org/officeDocument/2006/relationships/tableStyles" Target="/ppt/tableStyles.xml" Id="Rc8ab4b3c53ef432a" /><Relationship Type="http://schemas.openxmlformats.org/officeDocument/2006/relationships/slide" Target="/ppt/slides/slide1.xml" Id="R54e68e24a26f4624" /><Relationship Type="http://schemas.openxmlformats.org/officeDocument/2006/relationships/slide" Target="/ppt/slides/slide2.xml" Id="R3f707437a6a94f04" /><Relationship Type="http://schemas.openxmlformats.org/officeDocument/2006/relationships/slide" Target="/ppt/slides/slide3.xml" Id="R807535793c8b4ffe" /><Relationship Type="http://schemas.openxmlformats.org/officeDocument/2006/relationships/slide" Target="/ppt/slides/slide4.xml" Id="R9fd0bf7be05342c5" /><Relationship Type="http://schemas.openxmlformats.org/officeDocument/2006/relationships/slide" Target="/ppt/slides/slide5.xml" Id="R60f86666a2d847e8" /><Relationship Type="http://schemas.openxmlformats.org/officeDocument/2006/relationships/slide" Target="/ppt/slides/slide6.xml" Id="R150c87af372a40e9" /><Relationship Type="http://schemas.openxmlformats.org/officeDocument/2006/relationships/slide" Target="/ppt/slides/slide7.xml" Id="R438078c4a9574fed" /><Relationship Type="http://schemas.openxmlformats.org/officeDocument/2006/relationships/slide" Target="/ppt/slides/slide8.xml" Id="R63424c07b16c4de2" /><Relationship Type="http://schemas.openxmlformats.org/officeDocument/2006/relationships/slide" Target="/ppt/slides/slide9.xml" Id="Rac2c705231024299" /><Relationship Type="http://schemas.openxmlformats.org/officeDocument/2006/relationships/slide" Target="/ppt/slides/slide10.xml" Id="Rb2ba7234955e4b56" /><Relationship Type="http://schemas.openxmlformats.org/officeDocument/2006/relationships/slide" Target="/ppt/slides/slide11.xml" Id="Re6d5ecbe8e194da9" /><Relationship Type="http://schemas.openxmlformats.org/officeDocument/2006/relationships/slide" Target="/ppt/slides/slide12.xml" Id="Rb1c3078bcd364518" /><Relationship Type="http://schemas.openxmlformats.org/officeDocument/2006/relationships/slide" Target="/ppt/slides/slide13.xml" Id="Re20756d184324e12" /><Relationship Type="http://schemas.openxmlformats.org/officeDocument/2006/relationships/slide" Target="/ppt/slides/slide14.xml" Id="Rf3a8734841e8437c" /><Relationship Type="http://schemas.openxmlformats.org/officeDocument/2006/relationships/slide" Target="/ppt/slides/slide15.xml" Id="R7fcd5e2e19e340f6" /><Relationship Type="http://schemas.openxmlformats.org/officeDocument/2006/relationships/slide" Target="/ppt/slides/slide16.xml" Id="R44c68e083fa54a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8e81a7133843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766538d82a4b73" /><Relationship Type="http://schemas.openxmlformats.org/officeDocument/2006/relationships/notesMaster" Target="/ppt/notesMasters/notesMaster1.xml" Id="R5f276eb71b8e4e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6b106b0df84312" /><Relationship Type="http://schemas.openxmlformats.org/officeDocument/2006/relationships/notesMaster" Target="/ppt/notesMasters/notesMaster1.xml" Id="Rd744a362f87b43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e68814459e49c8" /><Relationship Type="http://schemas.openxmlformats.org/officeDocument/2006/relationships/notesMaster" Target="/ppt/notesMasters/notesMaster1.xml" Id="Raec007ea120044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eff3d2f99c4ef3" /><Relationship Type="http://schemas.openxmlformats.org/officeDocument/2006/relationships/notesMaster" Target="/ppt/notesMasters/notesMaster1.xml" Id="R0f4f00c8593a45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378c74169e4cc0" /><Relationship Type="http://schemas.openxmlformats.org/officeDocument/2006/relationships/notesMaster" Target="/ppt/notesMasters/notesMaster1.xml" Id="R78dd1fab97104e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5ed4f3daa54f40" /><Relationship Type="http://schemas.openxmlformats.org/officeDocument/2006/relationships/notesMaster" Target="/ppt/notesMasters/notesMaster1.xml" Id="R08accc2adf344e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19a7791f68494d" /><Relationship Type="http://schemas.openxmlformats.org/officeDocument/2006/relationships/notesMaster" Target="/ppt/notesMasters/notesMaster1.xml" Id="Re1694a4c75c849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99983a49f04cef" /><Relationship Type="http://schemas.openxmlformats.org/officeDocument/2006/relationships/notesMaster" Target="/ppt/notesMasters/notesMaster1.xml" Id="Rf34db7f475d846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97ab97efa644dd" /><Relationship Type="http://schemas.openxmlformats.org/officeDocument/2006/relationships/notesMaster" Target="/ppt/notesMasters/notesMaster1.xml" Id="R3fe89c2cb28c49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5fa19fa2ef4ef8" /><Relationship Type="http://schemas.openxmlformats.org/officeDocument/2006/relationships/notesMaster" Target="/ppt/notesMasters/notesMaster1.xml" Id="Rf23278914fe943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72177fb48c4395" /><Relationship Type="http://schemas.openxmlformats.org/officeDocument/2006/relationships/notesMaster" Target="/ppt/notesMasters/notesMaster1.xml" Id="R932492d5ea7840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5a3e657e034bd2" /><Relationship Type="http://schemas.openxmlformats.org/officeDocument/2006/relationships/notesMaster" Target="/ppt/notesMasters/notesMaster1.xml" Id="R242b6e5d967a4b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3cf6bd62dd410a" /><Relationship Type="http://schemas.openxmlformats.org/officeDocument/2006/relationships/notesMaster" Target="/ppt/notesMasters/notesMaster1.xml" Id="Rf17c892c2cba43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4e313a425b47bd" /><Relationship Type="http://schemas.openxmlformats.org/officeDocument/2006/relationships/notesMaster" Target="/ppt/notesMasters/notesMaster1.xml" Id="R11afa313799f44f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d85bfff7bd54480" /><Relationship Type="http://schemas.openxmlformats.org/officeDocument/2006/relationships/notesMaster" Target="/ppt/notesMasters/notesMaster1.xml" Id="Rd14e9ac559af452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1f9a79b73bd448f" /><Relationship Type="http://schemas.openxmlformats.org/officeDocument/2006/relationships/notesMaster" Target="/ppt/notesMasters/notesMaster1.xml" Id="Rd7bc6b635f944b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/Users/apple/Desktop/infosfis project/AI_Project_Intelligence_Test_Dossier.pdf. Project Orion is a fictional controlled test document. These are facts from the dossier, not measured output of this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Sample dossier schedule dates: /Users/apple/Desktop/infosfis project/AI_Project_Intelligence_Test_Dossier.pdf. The app's AI output varies and has not been asserted here as an actual test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e9e1db0d3647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7ce4618cba483c" /><Relationship Type="http://schemas.openxmlformats.org/officeDocument/2006/relationships/slideLayout" Target="/ppt/slideLayouts/slideLayout1.xml" Id="R41483ffb2cc444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483ffb2cc444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1177d555349e5" /><Relationship Type="http://schemas.openxmlformats.org/officeDocument/2006/relationships/notesSlide" Target="/ppt/notesSlides/notesSlide1.xml" Id="Raa07881069064e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9938341e14d59" /><Relationship Type="http://schemas.openxmlformats.org/officeDocument/2006/relationships/notesSlide" Target="/ppt/notesSlides/notesSlide2.xml" Id="R9a7f6915804c46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28cc85e8243b1" /><Relationship Type="http://schemas.openxmlformats.org/officeDocument/2006/relationships/notesSlide" Target="/ppt/notesSlides/notesSlide3.xml" Id="R4109be7167f943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d52bc63674170" /><Relationship Type="http://schemas.openxmlformats.org/officeDocument/2006/relationships/notesSlide" Target="/ppt/notesSlides/notesSlide4.xml" Id="Rfd8b16e5af6e41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18bf7a1d8490b" /><Relationship Type="http://schemas.openxmlformats.org/officeDocument/2006/relationships/notesSlide" Target="/ppt/notesSlides/notesSlide5.xml" Id="Rf4e1ddf0c02943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87966235b42ba" /><Relationship Type="http://schemas.openxmlformats.org/officeDocument/2006/relationships/notesSlide" Target="/ppt/notesSlides/notesSlide6.xml" Id="R3630fde7dbe349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c97eb2c6c4f24" /><Relationship Type="http://schemas.openxmlformats.org/officeDocument/2006/relationships/notesSlide" Target="/ppt/notesSlides/notesSlide7.xml" Id="Rc5f0cf10560843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5be75163c4d65" /><Relationship Type="http://schemas.openxmlformats.org/officeDocument/2006/relationships/notesSlide" Target="/ppt/notesSlides/notesSlide8.xml" Id="R79f97c7de36c41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de09c4aa54642" /><Relationship Type="http://schemas.openxmlformats.org/officeDocument/2006/relationships/notesSlide" Target="/ppt/notesSlides/notesSlide9.xml" Id="Ree257f1909b845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dce22b34e4da1" /><Relationship Type="http://schemas.openxmlformats.org/officeDocument/2006/relationships/notesSlide" Target="/ppt/notesSlides/notesSlide10.xml" Id="R058aa0333b684b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b2b7d7cf24eb9" /><Relationship Type="http://schemas.openxmlformats.org/officeDocument/2006/relationships/notesSlide" Target="/ppt/notesSlides/notesSlide11.xml" Id="Rccdae9c324fb4a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2eec5f8554c7a" /><Relationship Type="http://schemas.openxmlformats.org/officeDocument/2006/relationships/notesSlide" Target="/ppt/notesSlides/notesSlide12.xml" Id="R2e0c281d71dd47a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7eec317a14c69" /><Relationship Type="http://schemas.openxmlformats.org/officeDocument/2006/relationships/notesSlide" Target="/ppt/notesSlides/notesSlide13.xml" Id="R4abae79f90224bc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f87c06560445b" /><Relationship Type="http://schemas.openxmlformats.org/officeDocument/2006/relationships/notesSlide" Target="/ppt/notesSlides/notesSlide14.xml" Id="R093d2f65ceb64a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83218995a4703" /><Relationship Type="http://schemas.openxmlformats.org/officeDocument/2006/relationships/notesSlide" Target="/ppt/notesSlides/notesSlide15.xml" Id="Rbb63f2339efd41f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2b572b90a45aa" /><Relationship Type="http://schemas.openxmlformats.org/officeDocument/2006/relationships/notesSlide" Target="/ppt/notesSlides/notesSlide16.xml" Id="R3a8cb86af5e347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8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970C9-4193-4AFB-9A1D-FDF12187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AI-DRIVEN ENTERPRISE PROJECT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6E90D-4C1E-4937-A403-A676D77B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668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8F9FC"/>
                </a:solidFill>
                <a:latin typeface="Cambria"/>
                <a:ea typeface="Cambria"/>
                <a:cs typeface="Cambria"/>
              </a:defRPr>
            </a:pPr>
            <a:r>
              <a:rPr sz="4350" b="1">
                <a:solidFill>
                  <a:srgbClr val="F8F9FC"/>
                </a:solidFill>
                <a:latin typeface="Cambria"/>
                <a:ea typeface="Cambria"/>
                <a:cs typeface="Cambria"/>
              </a:rPr>
              <a:t>AI-Driven Enterprise</a:t>
            </a:r>
          </a:p>
          <a:p xmlns:a="http://schemas.openxmlformats.org/drawingml/2006/main">
            <a:pPr>
              <a:defRPr sz="4350" b="1">
                <a:solidFill>
                  <a:srgbClr val="F8F9FC"/>
                </a:solidFill>
                <a:latin typeface="Cambria"/>
                <a:ea typeface="Cambria"/>
                <a:cs typeface="Cambria"/>
              </a:defRPr>
            </a:pPr>
            <a:r>
              <a:rPr sz="4350" b="1">
                <a:solidFill>
                  <a:srgbClr val="F8F9FC"/>
                </a:solidFill>
                <a:latin typeface="Cambria"/>
                <a:ea typeface="Cambria"/>
                <a:cs typeface="Cambria"/>
              </a:rPr>
              <a:t>Project Intelligence &amp;</a:t>
            </a:r>
          </a:p>
          <a:p xmlns:a="http://schemas.openxmlformats.org/drawingml/2006/main">
            <a:pPr>
              <a:defRPr sz="4350" b="1">
                <a:solidFill>
                  <a:srgbClr val="F8F9FC"/>
                </a:solidFill>
                <a:latin typeface="Cambria"/>
                <a:ea typeface="Cambria"/>
                <a:cs typeface="Cambria"/>
              </a:defRPr>
            </a:pPr>
            <a:r>
              <a:rPr sz="4350" b="1">
                <a:solidFill>
                  <a:srgbClr val="F8F9FC"/>
                </a:solidFill>
                <a:latin typeface="Cambria"/>
                <a:ea typeface="Cambria"/>
                <a:cs typeface="Cambria"/>
              </a:rPr>
              <a:t>Risk Management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A7C6A-3704-40E1-A810-8BF90A41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Mentor presentation on document-grounded project analysis</a:t>
            </a:r>
          </a:p>
        </p:txBody>
      </p:sp>
    </p:spTree>
    <p:extLst>
      <p:ext uri="{BB962C8B-B14F-4D97-AF65-F5344CB8AC3E}">
        <p14:creationId xmlns:p14="http://schemas.microsoft.com/office/powerpoint/2010/main" val="5453201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18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69419-D246-4BE2-93F4-E7224BFB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55B7C-8790-43AB-9FBB-89868118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8F9FC"/>
                </a:solidFill>
                <a:latin typeface="Cambria"/>
                <a:ea typeface="Cambria"/>
                <a:cs typeface="Cambria"/>
              </a:defRPr>
            </a:pPr>
            <a:r>
              <a:rPr sz="3225" b="1">
                <a:solidFill>
                  <a:srgbClr val="F8F9FC"/>
                </a:solidFill>
                <a:latin typeface="Cambria"/>
                <a:ea typeface="Cambria"/>
                <a:cs typeface="Cambria"/>
              </a:rPr>
              <a:t>The project management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C9B01-439E-4576-9478-22BD546A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PROBLEM STATEMENT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8D157-092B-4023-A26A-5C679D71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43D2E-7AEF-4C28-8F95-CD026F48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2E5D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62E5DD"/>
                </a:solidFill>
                <a:latin typeface="Cambria"/>
                <a:ea typeface="Cambria"/>
                <a:cs typeface="Cambria"/>
              </a:rPr>
              <a:t>What teams have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87E44-5208-45EE-B4B8-65A85541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52725"/>
            <a:ext cx="4953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Proposals, meeting notes and updates</a:t>
            </a:r>
          </a:p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Tasks and progress reports</a:t>
            </a:r>
          </a:p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Deadlines spread across 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7AD6A-CEFC-4324-8E40-5AE78392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336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2E5D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62E5DD"/>
                </a:solidFill>
                <a:latin typeface="Cambria"/>
                <a:ea typeface="Cambria"/>
                <a:cs typeface="Cambria"/>
              </a:rPr>
              <a:t>What teams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1B822-759A-4941-979F-8C7B7899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52725"/>
            <a:ext cx="4953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A clear view of project scope</a:t>
            </a:r>
          </a:p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Early warning of delivery risks</a:t>
            </a:r>
          </a:p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Evidence behind every conclusion</a:t>
            </a:r>
          </a:p>
        </p:txBody>
      </p:sp>
    </p:spTree>
    <p:extLst>
      <p:ext uri="{BB962C8B-B14F-4D97-AF65-F5344CB8AC3E}">
        <p14:creationId xmlns:p14="http://schemas.microsoft.com/office/powerpoint/2010/main" val="16781926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18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C6C19-90F7-4CAD-A1C8-93AD66EF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E31C2-520A-4288-9763-7212B17D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8F9FC"/>
                </a:solidFill>
                <a:latin typeface="Cambria"/>
                <a:ea typeface="Cambria"/>
                <a:cs typeface="Cambria"/>
              </a:defRPr>
            </a:pPr>
            <a:r>
              <a:rPr sz="3225" b="1">
                <a:solidFill>
                  <a:srgbClr val="F8F9FC"/>
                </a:solidFill>
                <a:latin typeface="Cambria"/>
                <a:ea typeface="Cambria"/>
                <a:cs typeface="Cambria"/>
              </a:rPr>
              <a:t>Project objective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69648-4FBB-4B8A-A99B-8BD7858D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INTRODUCTION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137A7-85D0-4E40-A9E5-EB712328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3DD72-E91D-42F3-BA30-7688B5B3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10001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Turn uploaded project documents into a searchable knowledge base, then produce evidence-grounded health analysis, risk forecasts and actionable recommendations.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CAAF0-3D57-44E9-ABF9-5D2C0171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Project managers review the AI's conclusions and make the final decisions using the supporting document evidence.</a:t>
            </a:r>
          </a:p>
        </p:txBody>
      </p:sp>
    </p:spTree>
    <p:extLst>
      <p:ext uri="{BB962C8B-B14F-4D97-AF65-F5344CB8AC3E}">
        <p14:creationId xmlns:p14="http://schemas.microsoft.com/office/powerpoint/2010/main" val="7705445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8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20EF3-983D-4548-A596-CF966969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F41A0-4E47-449F-AF94-FA36D94B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8F9FC"/>
                </a:solidFill>
                <a:latin typeface="Cambria"/>
                <a:ea typeface="Cambria"/>
                <a:cs typeface="Cambria"/>
              </a:defRPr>
            </a:pPr>
            <a:r>
              <a:rPr sz="3225" b="1">
                <a:solidFill>
                  <a:srgbClr val="F8F9FC"/>
                </a:solidFill>
                <a:latin typeface="Cambria"/>
                <a:ea typeface="Cambria"/>
                <a:cs typeface="Cambria"/>
              </a:rPr>
              <a:t>The proposed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5728F-3B00-4B79-96F5-F62016FC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AB5C9-9D0B-449B-8688-5D72D763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C9AE5-2449-4C3F-93C2-24B1A9AA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CF837-66AD-43BE-AFCF-60031AE5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43125"/>
            <a:ext cx="971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Upload PDF, DOCX, CSV or TXT documents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D134F-EB92-46F3-822B-267E3FB8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194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7E1A4-30A2-458B-8B1B-3D24F3F4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19425"/>
            <a:ext cx="971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Index their content with embeddings and ChromaDB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92258-EDAF-4560-900A-9217404C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957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1B69A8-2828-46CE-82EF-92660F7F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895725"/>
            <a:ext cx="971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Generate scope, health, risks and recommendations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053CE-A741-4247-9F8A-EDB3E7F2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720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8729B9-C2C4-491E-BF09-79AC5190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72025"/>
            <a:ext cx="971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Ask questions and export formal reports</a:t>
            </a:r>
          </a:p>
        </p:txBody>
      </p:sp>
    </p:spTree>
    <p:extLst>
      <p:ext uri="{BB962C8B-B14F-4D97-AF65-F5344CB8AC3E}">
        <p14:creationId xmlns:p14="http://schemas.microsoft.com/office/powerpoint/2010/main" val="14307141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18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317417-7C92-4666-A5F3-53A1F479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C82E1-0722-485F-8EFB-1B8590F5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8F9FC"/>
                </a:solidFill>
                <a:latin typeface="Cambria"/>
                <a:ea typeface="Cambria"/>
                <a:cs typeface="Cambria"/>
              </a:defRPr>
            </a:pPr>
            <a:r>
              <a:rPr sz="3225" b="1">
                <a:solidFill>
                  <a:srgbClr val="F8F9FC"/>
                </a:solidFill>
                <a:latin typeface="Cambria"/>
                <a:ea typeface="Cambria"/>
                <a:cs typeface="Cambria"/>
              </a:rPr>
              <a:t>How a project document moves through the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ABD70-6BE1-489F-BF8C-35C33484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SYSTEM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C76B0-A442-4986-A106-6BBE4DBC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528EE-C716-4CE7-9843-312290B3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DE737-3389-4232-8941-DF9E1345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00250"/>
            <a:ext cx="971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Sign up or log 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DDD32-D4C2-4843-A818-AE5BECD9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241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3B5CC-A398-42FF-812D-FAA566F6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724150"/>
            <a:ext cx="971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Preview and upload project files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37A19-4969-4AC1-95E9-7B82F210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480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C0BDA4-9D8D-4D7E-A04D-B02CF0D7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48050"/>
            <a:ext cx="971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Run document analysis and delivery forecast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D5F28-6AE6-4B69-BD0A-6520AB53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719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E5C69-A7D8-4436-A693-00253416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71950"/>
            <a:ext cx="971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Review risks with evidence in the dashboard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0E7CE8-418D-4E62-B0AE-5830484B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958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341BB6-BA64-40E8-A837-5165C65A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895850"/>
            <a:ext cx="971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Chat with the documents or export a report</a:t>
            </a:r>
          </a:p>
        </p:txBody>
      </p:sp>
    </p:spTree>
    <p:extLst>
      <p:ext uri="{BB962C8B-B14F-4D97-AF65-F5344CB8AC3E}">
        <p14:creationId xmlns:p14="http://schemas.microsoft.com/office/powerpoint/2010/main" val="21214863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18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F97FD-33A1-45FB-ADCC-39E66C93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044DE-0EE1-4999-8180-C0369A54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8F9FC"/>
                </a:solidFill>
                <a:latin typeface="Cambria"/>
                <a:ea typeface="Cambria"/>
                <a:cs typeface="Cambria"/>
              </a:defRPr>
            </a:pPr>
            <a:r>
              <a:rPr sz="3225" b="1">
                <a:solidFill>
                  <a:srgbClr val="F8F9FC"/>
                </a:solidFill>
                <a:latin typeface="Cambria"/>
                <a:ea typeface="Cambria"/>
                <a:cs typeface="Cambria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5E84E-1541-4FC5-AD46-E4D74410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TECHNICAL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7916B-F189-4D85-9D95-E4260C06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62A06-EF5E-49E5-82A1-C57A21A6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490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2E5D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62E5DD"/>
                </a:solidFill>
                <a:latin typeface="Cambria"/>
                <a:ea typeface="Cambria"/>
                <a:cs typeface="Cambria"/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78FFD-6609-4F36-84E4-D7DB07DC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49053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React + Vite + Tailwind CSS</a:t>
            </a:r>
          </a:p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FastAPI endpoints</a:t>
            </a:r>
          </a:p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Local JSON account history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AAB3E-CD3E-496C-819E-4C8BA7E2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47875"/>
            <a:ext cx="490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2E5D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62E5DD"/>
                </a:solidFill>
                <a:latin typeface="Cambria"/>
                <a:ea typeface="Cambria"/>
                <a:cs typeface="Cambria"/>
              </a:rPr>
              <a:t>AI and retrieval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037CF-C863-4AA1-A7AF-2844FDD0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67000"/>
            <a:ext cx="49053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LangChain document pipeline</a:t>
            </a:r>
          </a:p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Gemini embeddings and generation</a:t>
            </a:r>
          </a:p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Chroma vector database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4C44F-84F2-4416-A7AA-0726A7F0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34000"/>
            <a:ext cx="10429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The frontend sends requests to FastAPI. The backend retrieves document context before asking Gemini for an answer.</a:t>
            </a:r>
          </a:p>
        </p:txBody>
      </p:sp>
    </p:spTree>
    <p:extLst>
      <p:ext uri="{BB962C8B-B14F-4D97-AF65-F5344CB8AC3E}">
        <p14:creationId xmlns:p14="http://schemas.microsoft.com/office/powerpoint/2010/main" val="3725425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18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D304D-9F23-43D4-8205-7CB8C95B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4ECA0-1418-4D74-954B-39C28ADF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8F9FC"/>
                </a:solidFill>
                <a:latin typeface="Cambria"/>
                <a:ea typeface="Cambria"/>
                <a:cs typeface="Cambria"/>
              </a:defRPr>
            </a:pPr>
            <a:r>
              <a:rPr sz="3225" b="1">
                <a:solidFill>
                  <a:srgbClr val="F8F9FC"/>
                </a:solidFill>
                <a:latin typeface="Cambria"/>
                <a:ea typeface="Cambria"/>
                <a:cs typeface="Cambria"/>
              </a:rPr>
              <a:t>Document ingestion and indexing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3A400-744C-4D5F-ACF2-2D65CCB5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RAG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FF0EC-5E75-4699-B578-0EB1AAD3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6BFFA-E1FB-4CDC-89FB-E8A05153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31BED-020B-4F47-8597-94B73A10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95500"/>
            <a:ext cx="971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Validate the file and extract 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57275-F16A-4118-96DE-940714DC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03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9AF01-CA29-42A3-A673-0DA87165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00375"/>
            <a:ext cx="971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Split content into manageable chunks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612DD-AF7D-4C21-9469-7517A0F3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2B6E8-C942-4E89-B61E-45AF9493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05250"/>
            <a:ext cx="971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Generate Gemini embeddings in batches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966E3-D39B-4046-8144-3841F315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093C7-2F27-41E5-B515-AD5068D9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810125"/>
            <a:ext cx="971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Store the chunks in Chroma for retrieval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A9BE55-E6CD-4653-8E06-38ECBC17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340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CSV records are grouped before indexing; empty and oversized files are rejected.</a:t>
            </a:r>
          </a:p>
        </p:txBody>
      </p:sp>
    </p:spTree>
    <p:extLst>
      <p:ext uri="{BB962C8B-B14F-4D97-AF65-F5344CB8AC3E}">
        <p14:creationId xmlns:p14="http://schemas.microsoft.com/office/powerpoint/2010/main" val="1485034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18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ABFCE-5E7E-4E44-A5F1-001D6704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58FF5-C3AB-45B9-B3FC-193F56D0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8F9FC"/>
                </a:solidFill>
                <a:latin typeface="Cambria"/>
                <a:ea typeface="Cambria"/>
                <a:cs typeface="Cambria"/>
              </a:defRPr>
            </a:pPr>
            <a:r>
              <a:rPr sz="3225" b="1">
                <a:solidFill>
                  <a:srgbClr val="F8F9FC"/>
                </a:solidFill>
                <a:latin typeface="Cambria"/>
                <a:ea typeface="Cambria"/>
                <a:cs typeface="Cambria"/>
              </a:rPr>
              <a:t>AI analysis and project health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8CC09-75F6-4C99-9303-B5B2B65B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IMPLEMENTED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BAD77-FEA9-4177-A7B6-CDA92A9C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7FD72-BD95-4D7B-A83A-00E455A6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2E5D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62E5DD"/>
                </a:solidFill>
                <a:latin typeface="Cambria"/>
                <a:ea typeface="Cambria"/>
                <a:cs typeface="Cambria"/>
              </a:rPr>
              <a:t>Structured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69ACF-6CDB-4612-A6CE-650CAD40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953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Scope summary and health score</a:t>
            </a:r>
          </a:p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Score methodology</a:t>
            </a:r>
          </a:p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Risk title, severity and category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8279D-A4D1-4992-832D-3432FA90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431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2E5D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62E5DD"/>
                </a:solidFill>
                <a:latin typeface="Cambria"/>
                <a:ea typeface="Cambria"/>
                <a:cs typeface="Cambria"/>
              </a:rPr>
              <a:t>Practical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17FA0-9EA7-46B6-A955-B2684A7F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62250"/>
            <a:ext cx="4953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Risk evidence from the document</a:t>
            </a:r>
          </a:p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Mitigation recommendations</a:t>
            </a:r>
          </a:p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Generated user stories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BF535-4963-4D8F-BFDC-94C7C769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The score is an AI assessment with a stated basis, not a deterministic audit grade.</a:t>
            </a:r>
          </a:p>
        </p:txBody>
      </p:sp>
    </p:spTree>
    <p:extLst>
      <p:ext uri="{BB962C8B-B14F-4D97-AF65-F5344CB8AC3E}">
        <p14:creationId xmlns:p14="http://schemas.microsoft.com/office/powerpoint/2010/main" val="5033720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18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CF17D-FC0D-4A07-A6CA-95209772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C7232-4284-4DF3-91DD-B2797797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8F9FC"/>
                </a:solidFill>
                <a:latin typeface="Cambria"/>
                <a:ea typeface="Cambria"/>
                <a:cs typeface="Cambria"/>
              </a:defRPr>
            </a:pPr>
            <a:r>
              <a:rPr sz="3225" b="1">
                <a:solidFill>
                  <a:srgbClr val="F8F9FC"/>
                </a:solidFill>
                <a:latin typeface="Cambria"/>
                <a:ea typeface="Cambria"/>
                <a:cs typeface="Cambria"/>
              </a:rPr>
              <a:t>Risk evidence in a sample dossier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F5442-E924-45DC-8500-A2A89597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DEMONSTRATION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D9D9B-58DB-43E7-BE6B-610EB667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CDF6C-754D-4A8D-8EAE-6C5533A6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193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62E5DD"/>
                </a:solidFill>
                <a:latin typeface="Cambria"/>
                <a:ea typeface="Cambria"/>
                <a:cs typeface="Cambria"/>
              </a:defRPr>
            </a:pPr>
            <a:r>
              <a:rPr sz="2025" b="1">
                <a:solidFill>
                  <a:srgbClr val="62E5DD"/>
                </a:solidFill>
                <a:latin typeface="Cambria"/>
                <a:ea typeface="Cambria"/>
                <a:cs typeface="Cambria"/>
              </a:rPr>
              <a:t>Project Orion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A7B9F-0DC5-413D-AD2D-D3BCFDFD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0287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Migration reconciliation variance: 0.38%</a:t>
            </a:r>
          </a:p>
          <a:p xmlns:a="http://schemas.openxmlformats.org/drawingml/2006/main">
            <a:pPr>
              <a:defRPr sz="22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Red trigger in dossier: above 0.25%</a:t>
            </a:r>
          </a:p>
          <a:p xmlns:a="http://schemas.openxmlformats.org/drawingml/2006/main">
            <a:pPr>
              <a:defRPr sz="22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GBP 412k remains in suspense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A32A3-51E1-40A9-9936-46789406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1019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Risk basis: data quality already breaches the stated tolerance and the unresolved suspense item can block migration rehearsal.</a:t>
            </a:r>
          </a:p>
        </p:txBody>
      </p:sp>
    </p:spTree>
    <p:extLst>
      <p:ext uri="{BB962C8B-B14F-4D97-AF65-F5344CB8AC3E}">
        <p14:creationId xmlns:p14="http://schemas.microsoft.com/office/powerpoint/2010/main" val="336553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18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8081C-AD51-4960-A2B4-8B5FC60A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DDC76-4E39-4905-8A98-B41AE934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8F9FC"/>
                </a:solidFill>
                <a:latin typeface="Cambria"/>
                <a:ea typeface="Cambria"/>
                <a:cs typeface="Cambria"/>
              </a:defRPr>
            </a:pPr>
            <a:r>
              <a:rPr sz="3225" b="1">
                <a:solidFill>
                  <a:srgbClr val="F8F9FC"/>
                </a:solidFill>
                <a:latin typeface="Cambria"/>
                <a:ea typeface="Cambria"/>
                <a:cs typeface="Cambria"/>
              </a:rPr>
              <a:t>Delivery forecast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AD9C0-0490-4A88-BF84-49BB1D86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IMPLEMENTED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B212B-64FF-49D5-A30F-DDAC04E5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E68D2-0CBA-4DEA-A208-FAED8B7D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The forecast endpoint returns estimated delivery, delay risk, the basis for its rating, blockers and recommended actions.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0CF4E-EF04-4A9F-806B-91185DC5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The model is instructed to avoid inventing dates when the uploaded document has no schedule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71332-60D0-4FB9-B79B-71082CD9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For the sample dossier: approved baseline 28 Sep 2026; integrated forecast 19 Oct 2026, a 21-day gap.</a:t>
            </a:r>
          </a:p>
        </p:txBody>
      </p:sp>
    </p:spTree>
    <p:extLst>
      <p:ext uri="{BB962C8B-B14F-4D97-AF65-F5344CB8AC3E}">
        <p14:creationId xmlns:p14="http://schemas.microsoft.com/office/powerpoint/2010/main" val="702884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8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AEC1A-6AAD-4698-808A-52EED778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541AE-6E80-43FB-963B-42CFCB02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8F9FC"/>
                </a:solidFill>
                <a:latin typeface="Cambria"/>
                <a:ea typeface="Cambria"/>
                <a:cs typeface="Cambria"/>
              </a:defRPr>
            </a:pPr>
            <a:r>
              <a:rPr sz="3225" b="1">
                <a:solidFill>
                  <a:srgbClr val="F8F9FC"/>
                </a:solidFill>
                <a:latin typeface="Cambria"/>
                <a:ea typeface="Cambria"/>
                <a:cs typeface="Cambria"/>
              </a:rPr>
              <a:t>Document-grounded assistant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D530F-1000-4B11-96BB-58D2E0BB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IMPLEMENTED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AEFB1-1EFC-419B-9943-FE06EDEC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D2D10-09BF-421E-9E81-4BAED4C6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Users ask natural-language questions about one selected document or all indexed files.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F4874-BFBF-48F2-B13E-0BFD1F21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2E5D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62E5DD"/>
                </a:solidFill>
                <a:latin typeface="Cambria"/>
                <a:ea typeface="Cambria"/>
                <a:cs typeface="Cambria"/>
              </a:rPr>
              <a:t>Answer style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6E029-624A-4EC0-A3AF-1A017D9B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4762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Direct answer</a:t>
            </a:r>
          </a:p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Short headings and bullets</a:t>
            </a:r>
          </a:p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Clearly labeled uncertainty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D74C9-D549-4EF4-B34B-661190B0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718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2E5D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62E5DD"/>
                </a:solidFill>
                <a:latin typeface="Cambria"/>
                <a:ea typeface="Cambria"/>
                <a:cs typeface="Cambria"/>
              </a:rPr>
              <a:t>Traceability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D0B256-D05B-48B0-B5B8-780A7330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91000"/>
            <a:ext cx="4762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Retrieved document context</a:t>
            </a:r>
          </a:p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Source file labels</a:t>
            </a:r>
          </a:p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Copy-answer action</a:t>
            </a:r>
          </a:p>
        </p:txBody>
      </p:sp>
    </p:spTree>
    <p:extLst>
      <p:ext uri="{BB962C8B-B14F-4D97-AF65-F5344CB8AC3E}">
        <p14:creationId xmlns:p14="http://schemas.microsoft.com/office/powerpoint/2010/main" val="526435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18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349E4-E814-4416-B3A2-D643ED5C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3EBFA-55B5-4FE8-B44B-F591937A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8F9FC"/>
                </a:solidFill>
                <a:latin typeface="Cambria"/>
                <a:ea typeface="Cambria"/>
                <a:cs typeface="Cambria"/>
              </a:defRPr>
            </a:pPr>
            <a:r>
              <a:rPr sz="3225" b="1">
                <a:solidFill>
                  <a:srgbClr val="F8F9FC"/>
                </a:solidFill>
                <a:latin typeface="Cambria"/>
                <a:ea typeface="Cambria"/>
                <a:cs typeface="Cambria"/>
              </a:rPr>
              <a:t>Dashboard, risks and report exports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F1C82-600C-4EA9-82DC-1DC7AE33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IMPLEMENTED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7D4E3-FF9B-4522-8A70-94DF2046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983A3-9351-487F-9B69-967C18BF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2E5D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62E5DD"/>
                </a:solidFill>
                <a:latin typeface="Cambria"/>
                <a:ea typeface="Cambria"/>
                <a:cs typeface="Cambria"/>
              </a:rPr>
              <a:t>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6C7DA-1DB0-4905-BF44-68F7DB1F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953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Document count</a:t>
            </a:r>
          </a:p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Average health score</a:t>
            </a:r>
          </a:p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Risks by severity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3B8E7-C015-4834-864B-69771A6A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431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2E5D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62E5DD"/>
                </a:solidFill>
                <a:latin typeface="Cambria"/>
                <a:ea typeface="Cambria"/>
                <a:cs typeface="Cambria"/>
              </a:rPr>
              <a:t>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9CEEF-64E7-45C7-B6E5-8F3F0FFA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62250"/>
            <a:ext cx="4953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Formal Word risk register</a:t>
            </a:r>
          </a:p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Styled PDF report</a:t>
            </a:r>
          </a:p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Methodology and evidence included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8C609-9C1A-4895-8EF8-EFB57998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Risk groups can be expanded and filtered by High, Medium or Low severity.</a:t>
            </a:r>
          </a:p>
        </p:txBody>
      </p:sp>
    </p:spTree>
    <p:extLst>
      <p:ext uri="{BB962C8B-B14F-4D97-AF65-F5344CB8AC3E}">
        <p14:creationId xmlns:p14="http://schemas.microsoft.com/office/powerpoint/2010/main" val="1256085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418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15001C-C605-4B32-BF4F-BAD261E6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4487D-E4B0-416C-9F74-6712DE0C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8F9FC"/>
                </a:solidFill>
                <a:latin typeface="Cambria"/>
                <a:ea typeface="Cambria"/>
                <a:cs typeface="Cambria"/>
              </a:defRPr>
            </a:pPr>
            <a:r>
              <a:rPr sz="3225" b="1">
                <a:solidFill>
                  <a:srgbClr val="F8F9FC"/>
                </a:solidFill>
                <a:latin typeface="Cambria"/>
                <a:ea typeface="Cambria"/>
                <a:cs typeface="Cambria"/>
              </a:rPr>
              <a:t>User experience and resilience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A0170-8E15-4C3A-8E9D-5F6785A2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IMPLEMENTED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47243-619B-46F9-A132-CA8B9333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B7464-34B8-4764-BE45-0CE5917C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764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409FF-0FED-41ED-8B7D-922A5EA3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76450"/>
            <a:ext cx="971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Account login and per-user document history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A2DE9-A34E-47CC-BED0-0896483C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813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C82D3-8266-4902-8089-5E493830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81325"/>
            <a:ext cx="971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Drag-and-drop upload with preview before submission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0AB6B-1AC5-4527-9788-61805A32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86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543C37-E023-4A2E-AEC7-2C841D46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886200"/>
            <a:ext cx="971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Dark and light themes with loading and error states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17370-E881-4329-8E06-B1437121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910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07712-309D-413B-961B-D548A5FB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91075"/>
            <a:ext cx="971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Retry and batched embedding for rate limits</a:t>
            </a:r>
          </a:p>
        </p:txBody>
      </p:sp>
    </p:spTree>
    <p:extLst>
      <p:ext uri="{BB962C8B-B14F-4D97-AF65-F5344CB8AC3E}">
        <p14:creationId xmlns:p14="http://schemas.microsoft.com/office/powerpoint/2010/main" val="7641243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18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2649B-0A35-4516-AB37-204A58B8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F6513-AAB5-4936-866D-A0109312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8F9FC"/>
                </a:solidFill>
                <a:latin typeface="Cambria"/>
                <a:ea typeface="Cambria"/>
                <a:cs typeface="Cambria"/>
              </a:defRPr>
            </a:pPr>
            <a:r>
              <a:rPr sz="3225" b="1">
                <a:solidFill>
                  <a:srgbClr val="F8F9FC"/>
                </a:solidFill>
                <a:latin typeface="Cambria"/>
                <a:ea typeface="Cambria"/>
                <a:cs typeface="Cambria"/>
              </a:rPr>
              <a:t>Technology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520C8-7001-45A3-9529-B7A6D9F8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A55A2-9A82-4FAF-B619-EF6C6C92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6418D-B3A4-4A41-8DE4-CF15AC22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2E5D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62E5DD"/>
                </a:solidFill>
                <a:latin typeface="Cambria"/>
                <a:ea typeface="Cambria"/>
                <a:cs typeface="Cambria"/>
              </a:rPr>
              <a:t>Frontend and backend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89D93-0311-46F3-8F06-4783EECD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4953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React, Vite, Tailwind CSS</a:t>
            </a:r>
          </a:p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Python and FastAPI</a:t>
            </a:r>
          </a:p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Python-docx and ReportLab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A907E-86BD-4F4B-B5CB-1FDB08A0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478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2E5D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62E5DD"/>
                </a:solidFill>
                <a:latin typeface="Cambria"/>
                <a:ea typeface="Cambria"/>
                <a:cs typeface="Cambria"/>
              </a:rPr>
              <a:t>Document intelligence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CE4F7-3ECD-4404-A32F-74AAB392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67000"/>
            <a:ext cx="4953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LangChain and ChromaDB</a:t>
            </a:r>
          </a:p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Google Gemini models</a:t>
            </a:r>
          </a:p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Pandas for CSV 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57C5A-E981-4F23-9B4C-8A6926D4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An API key is required for the current Gemini-powered AI functions.</a:t>
            </a:r>
          </a:p>
        </p:txBody>
      </p:sp>
    </p:spTree>
    <p:extLst>
      <p:ext uri="{BB962C8B-B14F-4D97-AF65-F5344CB8AC3E}">
        <p14:creationId xmlns:p14="http://schemas.microsoft.com/office/powerpoint/2010/main" val="10982871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418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E7B4A-F067-474A-B0B0-D469FC48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C56FD-0DCD-430C-ABBD-F4EA8943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8F9FC"/>
                </a:solidFill>
                <a:latin typeface="Cambria"/>
                <a:ea typeface="Cambria"/>
                <a:cs typeface="Cambria"/>
              </a:defRPr>
            </a:pPr>
            <a:r>
              <a:rPr sz="3225" b="1">
                <a:solidFill>
                  <a:srgbClr val="F8F9FC"/>
                </a:solidFill>
                <a:latin typeface="Cambria"/>
                <a:ea typeface="Cambria"/>
                <a:cs typeface="Cambria"/>
              </a:rPr>
              <a:t>Current scope and next improvements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99722-BEC4-4DB4-B67F-5B8931B1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PROJECT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1029C-F109-439B-BCAF-E0029544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6C85E-BDF5-48DB-ACB9-9B181149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2E5D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62E5DD"/>
                </a:solidFill>
                <a:latin typeface="Cambria"/>
                <a:ea typeface="Cambria"/>
                <a:cs typeface="Cambria"/>
              </a:rPr>
              <a:t>Working 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15039-1459-4DC5-863F-31A72DC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953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Upload and RAG indexing</a:t>
            </a:r>
          </a:p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Analysis, risk evidence and chat</a:t>
            </a:r>
          </a:p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Forecast and report exports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E606A-4BAA-4B32-884E-54E0CCFA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431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2E5D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62E5DD"/>
                </a:solidFill>
                <a:latin typeface="Cambria"/>
                <a:ea typeface="Cambria"/>
                <a:cs typeface="Cambria"/>
              </a:rPr>
              <a:t>Planned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F435E-FC8C-4148-B884-DD3729D5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62250"/>
            <a:ext cx="4953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Gmail sync integration</a:t>
            </a:r>
          </a:p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Automated endpoint test suite</a:t>
            </a:r>
          </a:p>
          <a:p xmlns:a="http://schemas.openxmlformats.org/drawingml/2006/main">
            <a:pPr>
              <a:defRPr sz="1950" b="0">
                <a:solidFill>
                  <a:srgbClr val="F8F9FC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F8F9FC"/>
                </a:solidFill>
                <a:latin typeface="Calibri"/>
                <a:ea typeface="Calibri"/>
                <a:cs typeface="Calibri"/>
              </a:rPr>
              <a:t>Deployment and fuller documentation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B085E-CF3F-4B69-978D-D31241AE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Gmail sync appears as 'coming soon' in the current interface.</a:t>
            </a:r>
          </a:p>
        </p:txBody>
      </p:sp>
    </p:spTree>
    <p:extLst>
      <p:ext uri="{BB962C8B-B14F-4D97-AF65-F5344CB8AC3E}">
        <p14:creationId xmlns:p14="http://schemas.microsoft.com/office/powerpoint/2010/main" val="14102490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418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7966D-731D-4061-9B46-3E85FA7D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41404-99B9-482E-B2E5-F59DDD50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8F9FC"/>
                </a:solidFill>
                <a:latin typeface="Cambria"/>
                <a:ea typeface="Cambria"/>
                <a:cs typeface="Cambria"/>
              </a:defRPr>
            </a:pPr>
            <a:r>
              <a:rPr sz="3225" b="1">
                <a:solidFill>
                  <a:srgbClr val="F8F9FC"/>
                </a:solidFill>
                <a:latin typeface="Cambria"/>
                <a:ea typeface="Cambria"/>
                <a:cs typeface="Cambria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1C54E-3DF1-495F-8479-5E52BF8C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PROJECT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5EB83-F602-4E65-A3FA-31FEA559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BED2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7BED2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5989F-03BD-4698-84EE-0BB96D6D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10382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9FC"/>
                </a:solidFill>
                <a:latin typeface="Cambria"/>
                <a:ea typeface="Cambria"/>
                <a:cs typeface="Cambria"/>
              </a:defRPr>
            </a:pPr>
            <a:r>
              <a:rPr sz="2850" b="1">
                <a:solidFill>
                  <a:srgbClr val="F8F9FC"/>
                </a:solidFill>
                <a:latin typeface="Cambria"/>
                <a:ea typeface="Cambria"/>
                <a:cs typeface="Cambria"/>
              </a:rPr>
              <a:t>The platform consolidates project evidence so teams can examine scope, spot delivery risks early and act on specific supporting details.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47E5E-FA93-4BB8-9D6C-87E88985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958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E5DD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62E5DD"/>
                </a:solidFill>
                <a:latin typeface="Calibri"/>
                <a:ea typeface="Calibri"/>
                <a:cs typeface="Calibri"/>
              </a:rPr>
              <a:t>The current prototype demonstrates upload, grounded analysis, forecasts, assistant chat and report export.</a:t>
            </a:r>
          </a:p>
        </p:txBody>
      </p:sp>
    </p:spTree>
    <p:extLst>
      <p:ext uri="{BB962C8B-B14F-4D97-AF65-F5344CB8AC3E}">
        <p14:creationId xmlns:p14="http://schemas.microsoft.com/office/powerpoint/2010/main" val="1982305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2026-09-15T14:56:50.6060000Z</dcterms:created>
  <dcterms:modified xsi:type="dcterms:W3CDTF">2026-09-15T14:56:50.6060000Z</dcterms:modified>
</coreProperties>
</file>